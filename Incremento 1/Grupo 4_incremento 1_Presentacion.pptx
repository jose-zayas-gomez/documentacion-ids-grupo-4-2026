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9" roundtripDataSignature="AMtx7mgKBF+kr+OzTOjhfFhbizLP9NXfI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9C3F6F2-39F1-46C3-9ABE-BABA8FFFB8BF}">
  <a:tblStyle styleId="{A9C3F6F2-39F1-46C3-9ABE-BABA8FFFB8B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customschemas.google.com/relationships/presentationmetadata" Target="metadata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228850" cy="4587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2913058" y="0"/>
            <a:ext cx="2228850" cy="45879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-171450" y="1143000"/>
            <a:ext cx="5486400" cy="3086099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514350" y="4400549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08"/>
            <a:ext cx="2228850" cy="45879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2913058" y="8685208"/>
            <a:ext cx="2228850" cy="45879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s-CL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514350" y="4400549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2913058" y="8685208"/>
            <a:ext cx="2228850" cy="45879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s-CL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" name="Google Shape;24;p2:notes"/>
          <p:cNvSpPr txBox="1"/>
          <p:nvPr>
            <p:ph idx="1" type="body"/>
          </p:nvPr>
        </p:nvSpPr>
        <p:spPr>
          <a:xfrm>
            <a:off x="514350" y="4400549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25" name="Google Shape;25;p2:notes"/>
          <p:cNvSpPr txBox="1"/>
          <p:nvPr>
            <p:ph idx="12" type="sldNum"/>
          </p:nvPr>
        </p:nvSpPr>
        <p:spPr>
          <a:xfrm>
            <a:off x="2913058" y="8685208"/>
            <a:ext cx="2228850" cy="45879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s-CL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4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4:notes"/>
          <p:cNvSpPr txBox="1"/>
          <p:nvPr>
            <p:ph idx="1" type="body"/>
          </p:nvPr>
        </p:nvSpPr>
        <p:spPr>
          <a:xfrm>
            <a:off x="514350" y="4400549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53" name="Google Shape;53;p4:notes"/>
          <p:cNvSpPr txBox="1"/>
          <p:nvPr>
            <p:ph idx="12" type="sldNum"/>
          </p:nvPr>
        </p:nvSpPr>
        <p:spPr>
          <a:xfrm>
            <a:off x="2913058" y="8685208"/>
            <a:ext cx="2228850" cy="45879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s-CL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ec37d9229b_2_22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" name="Google Shape;62;g3ec37d9229b_2_22:notes"/>
          <p:cNvSpPr txBox="1"/>
          <p:nvPr>
            <p:ph idx="1" type="body"/>
          </p:nvPr>
        </p:nvSpPr>
        <p:spPr>
          <a:xfrm>
            <a:off x="514350" y="4400549"/>
            <a:ext cx="41148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63" name="Google Shape;63;g3ec37d9229b_2_22:notes"/>
          <p:cNvSpPr txBox="1"/>
          <p:nvPr>
            <p:ph idx="12" type="sldNum"/>
          </p:nvPr>
        </p:nvSpPr>
        <p:spPr>
          <a:xfrm>
            <a:off x="2913058" y="8685208"/>
            <a:ext cx="22290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s-CL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7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1" name="Google Shape;71;p7:notes"/>
          <p:cNvSpPr txBox="1"/>
          <p:nvPr>
            <p:ph idx="1" type="body"/>
          </p:nvPr>
        </p:nvSpPr>
        <p:spPr>
          <a:xfrm>
            <a:off x="514350" y="4400549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72" name="Google Shape;72;p7:notes"/>
          <p:cNvSpPr txBox="1"/>
          <p:nvPr>
            <p:ph idx="12" type="sldNum"/>
          </p:nvPr>
        </p:nvSpPr>
        <p:spPr>
          <a:xfrm>
            <a:off x="2913058" y="8685208"/>
            <a:ext cx="2228850" cy="45879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s-CL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0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" name="Google Shape;81;p10:notes"/>
          <p:cNvSpPr txBox="1"/>
          <p:nvPr>
            <p:ph idx="1" type="body"/>
          </p:nvPr>
        </p:nvSpPr>
        <p:spPr>
          <a:xfrm>
            <a:off x="514350" y="4400549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82" name="Google Shape;82;p10:notes"/>
          <p:cNvSpPr txBox="1"/>
          <p:nvPr>
            <p:ph idx="12" type="sldNum"/>
          </p:nvPr>
        </p:nvSpPr>
        <p:spPr>
          <a:xfrm>
            <a:off x="2913058" y="8685208"/>
            <a:ext cx="2228850" cy="45879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s-CL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ec37d9229b_3_0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g3ec37d9229b_3_0:notes"/>
          <p:cNvSpPr txBox="1"/>
          <p:nvPr>
            <p:ph idx="1" type="body"/>
          </p:nvPr>
        </p:nvSpPr>
        <p:spPr>
          <a:xfrm>
            <a:off x="514350" y="4400549"/>
            <a:ext cx="41148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93" name="Google Shape;93;g3ec37d9229b_3_0:notes"/>
          <p:cNvSpPr txBox="1"/>
          <p:nvPr>
            <p:ph idx="12" type="sldNum"/>
          </p:nvPr>
        </p:nvSpPr>
        <p:spPr>
          <a:xfrm>
            <a:off x="2913058" y="8685208"/>
            <a:ext cx="22290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s-CL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ec37d9229b_3_9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2" name="Google Shape;102;g3ec37d9229b_3_9:notes"/>
          <p:cNvSpPr txBox="1"/>
          <p:nvPr>
            <p:ph idx="1" type="body"/>
          </p:nvPr>
        </p:nvSpPr>
        <p:spPr>
          <a:xfrm>
            <a:off x="514350" y="4400549"/>
            <a:ext cx="41148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03" name="Google Shape;103;g3ec37d9229b_3_9:notes"/>
          <p:cNvSpPr txBox="1"/>
          <p:nvPr>
            <p:ph idx="12" type="sldNum"/>
          </p:nvPr>
        </p:nvSpPr>
        <p:spPr>
          <a:xfrm>
            <a:off x="2913058" y="8685208"/>
            <a:ext cx="22290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s-CL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8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" name="Google Shape;113;p8:notes"/>
          <p:cNvSpPr txBox="1"/>
          <p:nvPr>
            <p:ph idx="1" type="body"/>
          </p:nvPr>
        </p:nvSpPr>
        <p:spPr>
          <a:xfrm>
            <a:off x="514350" y="4400549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14" name="Google Shape;114;p8:notes"/>
          <p:cNvSpPr txBox="1"/>
          <p:nvPr>
            <p:ph idx="12" type="sldNum"/>
          </p:nvPr>
        </p:nvSpPr>
        <p:spPr>
          <a:xfrm>
            <a:off x="2913058" y="8685208"/>
            <a:ext cx="2228850" cy="45879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s-CL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9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3" name="Google Shape;123;p9:notes"/>
          <p:cNvSpPr txBox="1"/>
          <p:nvPr>
            <p:ph idx="1" type="body"/>
          </p:nvPr>
        </p:nvSpPr>
        <p:spPr>
          <a:xfrm>
            <a:off x="514350" y="4400549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24" name="Google Shape;124;p9:notes"/>
          <p:cNvSpPr txBox="1"/>
          <p:nvPr>
            <p:ph idx="12" type="sldNum"/>
          </p:nvPr>
        </p:nvSpPr>
        <p:spPr>
          <a:xfrm>
            <a:off x="2913058" y="8685208"/>
            <a:ext cx="2228850" cy="45879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s-CL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1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p11:notes"/>
          <p:cNvSpPr txBox="1"/>
          <p:nvPr>
            <p:ph idx="1" type="body"/>
          </p:nvPr>
        </p:nvSpPr>
        <p:spPr>
          <a:xfrm>
            <a:off x="514350" y="4400549"/>
            <a:ext cx="41148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34" name="Google Shape;134;p11:notes"/>
          <p:cNvSpPr txBox="1"/>
          <p:nvPr>
            <p:ph idx="12" type="sldNum"/>
          </p:nvPr>
        </p:nvSpPr>
        <p:spPr>
          <a:xfrm>
            <a:off x="2913058" y="8685208"/>
            <a:ext cx="2228850" cy="45879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s-CL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ec0232a584_0_17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g3ec0232a584_0_17:notes"/>
          <p:cNvSpPr txBox="1"/>
          <p:nvPr>
            <p:ph idx="1" type="body"/>
          </p:nvPr>
        </p:nvSpPr>
        <p:spPr>
          <a:xfrm>
            <a:off x="514350" y="4400549"/>
            <a:ext cx="41148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44" name="Google Shape;144;g3ec0232a584_0_17:notes"/>
          <p:cNvSpPr txBox="1"/>
          <p:nvPr>
            <p:ph idx="12" type="sldNum"/>
          </p:nvPr>
        </p:nvSpPr>
        <p:spPr>
          <a:xfrm>
            <a:off x="2913058" y="8685208"/>
            <a:ext cx="22290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s-CL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ec0232a584_0_0:notes"/>
          <p:cNvSpPr/>
          <p:nvPr>
            <p:ph idx="2" type="sldImg"/>
          </p:nvPr>
        </p:nvSpPr>
        <p:spPr>
          <a:xfrm>
            <a:off x="-17145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3" name="Google Shape;153;g3ec0232a584_0_0:notes"/>
          <p:cNvSpPr txBox="1"/>
          <p:nvPr>
            <p:ph idx="1" type="body"/>
          </p:nvPr>
        </p:nvSpPr>
        <p:spPr>
          <a:xfrm>
            <a:off x="514350" y="4400549"/>
            <a:ext cx="41148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/>
          </a:p>
        </p:txBody>
      </p:sp>
      <p:sp>
        <p:nvSpPr>
          <p:cNvPr id="154" name="Google Shape;154;g3ec0232a584_0_0:notes"/>
          <p:cNvSpPr txBox="1"/>
          <p:nvPr>
            <p:ph idx="12" type="sldNum"/>
          </p:nvPr>
        </p:nvSpPr>
        <p:spPr>
          <a:xfrm>
            <a:off x="2913058" y="8685208"/>
            <a:ext cx="22290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s-CL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rgbClr val="FFFFFF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hyperlink" Target="https://drive.google.com/file/d/1WRis2hsQrRQdHL1CGYeigi6sLLTQykiA/view?usp=sharing" TargetMode="External"/><Relationship Id="rId5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hyperlink" Target="https://drive.google.com/file/d/1SqH2PyMqLRNsCbGfWFMBvV5Emamf4VQC/view?usp=sharing" TargetMode="External"/><Relationship Id="rId5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s://drive.google.com/file/d/1gdjQuFdrkjRUs42AYUXEaQQ2LaUV2bKu/view?usp=sharing" TargetMode="External"/><Relationship Id="rId5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F2F7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unab_extracted/ppt/media/image1.png" id="16" name="Google Shape;1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1931" y="348544"/>
            <a:ext cx="971432" cy="8189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1"/>
          <p:cNvSpPr/>
          <p:nvPr/>
        </p:nvSpPr>
        <p:spPr>
          <a:xfrm>
            <a:off x="1139613" y="920609"/>
            <a:ext cx="6858000" cy="2011680"/>
          </a:xfrm>
          <a:prstGeom prst="rect">
            <a:avLst/>
          </a:prstGeom>
          <a:noFill/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s-CL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Proyecto de Ingeniería de Software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para el Sistema Evaluador de Daño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s-CL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Ambiental para Universidad Andrés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s-CL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Bello</a:t>
            </a:r>
            <a:endParaRPr b="0" i="0" sz="2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357931" y="3571957"/>
            <a:ext cx="2994837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L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Autores: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-"/>
            </a:pP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Brighitte Naomi Mia Espinoza Condori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-"/>
            </a:pP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Ignacia Antonia Huerta Córdova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-"/>
            </a:pP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Cristóbal Andrés Ibarra Ortiz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-"/>
            </a:pP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José Tomás Lastra Polanco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6267592" y="3698523"/>
            <a:ext cx="2712157" cy="123274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L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Profesor: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Paulo Luis Francisco Quinsacara Jofré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Fecha: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s-CL" sz="1100"/>
              <a:t>4</a:t>
            </a: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s-CL" sz="1100"/>
              <a:t>Junio</a:t>
            </a: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de 2026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Santiago de Chile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3001143" y="3844749"/>
            <a:ext cx="2994837" cy="94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-"/>
            </a:pP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Renato Andrés Leal González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-"/>
            </a:pP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Fernanda de Jesús Pavez Urbina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-"/>
            </a:pP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José Enrique Zayas Gómez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1" y="2941320"/>
            <a:ext cx="9146348" cy="499659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"/>
          <p:cNvSpPr/>
          <p:nvPr/>
        </p:nvSpPr>
        <p:spPr>
          <a:xfrm>
            <a:off x="0" y="232411"/>
            <a:ext cx="8161019" cy="76962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" name="Google Shape;28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33454" y="319332"/>
            <a:ext cx="706691" cy="595775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2"/>
          <p:cNvSpPr/>
          <p:nvPr/>
        </p:nvSpPr>
        <p:spPr>
          <a:xfrm>
            <a:off x="457200" y="274320"/>
            <a:ext cx="4572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600"/>
              <a:buFont typeface="Arial"/>
              <a:buNone/>
            </a:pPr>
            <a:r>
              <a:rPr b="1" i="1" lang="es-CL" sz="2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  <a:endParaRPr b="0" i="0" sz="2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548640" y="123444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Arial"/>
              <a:buNone/>
            </a:pPr>
            <a:r>
              <a:rPr b="0" i="0" lang="es-CL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1.- </a:t>
            </a:r>
            <a:r>
              <a:rPr lang="es-CL" sz="1300">
                <a:solidFill>
                  <a:srgbClr val="1E293B"/>
                </a:solidFill>
              </a:rPr>
              <a:t>Introducción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6858000" y="123444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Arial"/>
              <a:buNone/>
            </a:pPr>
            <a:r>
              <a:rPr lang="es-CL" sz="1300">
                <a:solidFill>
                  <a:srgbClr val="1E293B"/>
                </a:solidFill>
              </a:rPr>
              <a:t>3</a:t>
            </a:r>
            <a:endParaRPr b="0" i="0" sz="13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548640" y="1821017"/>
            <a:ext cx="6400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Arial"/>
              <a:buNone/>
            </a:pPr>
            <a:r>
              <a:rPr b="0" i="0" lang="es-CL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2.- </a:t>
            </a:r>
            <a:r>
              <a:rPr lang="es-CL" sz="1300">
                <a:solidFill>
                  <a:srgbClr val="1E293B"/>
                </a:solidFill>
              </a:rPr>
              <a:t>Alcance Incremento 1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"/>
          <p:cNvSpPr/>
          <p:nvPr/>
        </p:nvSpPr>
        <p:spPr>
          <a:xfrm>
            <a:off x="6858000" y="1821017"/>
            <a:ext cx="1371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Arial"/>
              <a:buNone/>
            </a:pPr>
            <a:r>
              <a:rPr lang="es-CL" sz="1300">
                <a:solidFill>
                  <a:srgbClr val="1E293B"/>
                </a:solidFill>
              </a:rPr>
              <a:t>5</a:t>
            </a:r>
            <a:endParaRPr b="0" i="0" sz="13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6858000" y="2122768"/>
            <a:ext cx="1371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Arial"/>
              <a:buNone/>
            </a:pPr>
            <a:r>
              <a:rPr lang="es-CL" sz="1300">
                <a:solidFill>
                  <a:srgbClr val="1E293B"/>
                </a:solidFill>
              </a:rPr>
              <a:t>6</a:t>
            </a:r>
            <a:endParaRPr b="0" i="0" sz="13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2"/>
          <p:cNvSpPr/>
          <p:nvPr/>
        </p:nvSpPr>
        <p:spPr>
          <a:xfrm>
            <a:off x="548640" y="2122821"/>
            <a:ext cx="6400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300">
                <a:solidFill>
                  <a:srgbClr val="1E293B"/>
                </a:solidFill>
              </a:rPr>
              <a:t>3</a:t>
            </a:r>
            <a:r>
              <a:rPr b="0" i="0" lang="es-CL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.- </a:t>
            </a:r>
            <a:r>
              <a:rPr lang="es-CL" sz="1300">
                <a:solidFill>
                  <a:srgbClr val="1E293B"/>
                </a:solidFill>
              </a:rPr>
              <a:t>Requerimiento 03 - CU 3.2 - Actualizando </a:t>
            </a:r>
            <a:r>
              <a:rPr lang="es-CL" sz="1300">
                <a:solidFill>
                  <a:srgbClr val="1E293B"/>
                </a:solidFill>
              </a:rPr>
              <a:t>dinámicamente</a:t>
            </a:r>
            <a:r>
              <a:rPr lang="es-CL" sz="1300">
                <a:solidFill>
                  <a:srgbClr val="1E293B"/>
                </a:solidFill>
              </a:rPr>
              <a:t> el indicador verde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2"/>
          <p:cNvSpPr/>
          <p:nvPr/>
        </p:nvSpPr>
        <p:spPr>
          <a:xfrm>
            <a:off x="6858000" y="3012546"/>
            <a:ext cx="1371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Arial"/>
              <a:buNone/>
            </a:pPr>
            <a:r>
              <a:rPr lang="es-CL" sz="1300">
                <a:solidFill>
                  <a:srgbClr val="1E293B"/>
                </a:solidFill>
              </a:rPr>
              <a:t>9</a:t>
            </a:r>
            <a:endParaRPr b="0" i="0" sz="13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548640" y="3012548"/>
            <a:ext cx="6400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300">
                <a:solidFill>
                  <a:srgbClr val="1E293B"/>
                </a:solidFill>
              </a:rPr>
              <a:t>4</a:t>
            </a:r>
            <a:r>
              <a:rPr b="0" i="0" lang="es-CL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.- Diagrama de </a:t>
            </a:r>
            <a:r>
              <a:rPr lang="es-CL" sz="1300">
                <a:solidFill>
                  <a:srgbClr val="1E293B"/>
                </a:solidFill>
              </a:rPr>
              <a:t>despliegue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" name="Google Shape;38;p2"/>
          <p:cNvSpPr/>
          <p:nvPr/>
        </p:nvSpPr>
        <p:spPr>
          <a:xfrm>
            <a:off x="6858000" y="3314298"/>
            <a:ext cx="1371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Arial"/>
              <a:buNone/>
            </a:pPr>
            <a:r>
              <a:rPr lang="es-CL" sz="1300"/>
              <a:t>10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2"/>
          <p:cNvSpPr/>
          <p:nvPr/>
        </p:nvSpPr>
        <p:spPr>
          <a:xfrm>
            <a:off x="548640" y="3314300"/>
            <a:ext cx="6400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300">
                <a:solidFill>
                  <a:srgbClr val="1E293B"/>
                </a:solidFill>
              </a:rPr>
              <a:t>5</a:t>
            </a:r>
            <a:r>
              <a:rPr b="0" i="0" lang="es-CL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.- Diagrama</a:t>
            </a:r>
            <a:r>
              <a:rPr lang="es-CL" sz="1300">
                <a:solidFill>
                  <a:srgbClr val="1E293B"/>
                </a:solidFill>
              </a:rPr>
              <a:t>s de componente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" name="Google Shape;40;p2"/>
          <p:cNvSpPr/>
          <p:nvPr/>
        </p:nvSpPr>
        <p:spPr>
          <a:xfrm>
            <a:off x="6858000" y="3616050"/>
            <a:ext cx="1371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Arial"/>
              <a:buNone/>
            </a:pPr>
            <a:r>
              <a:rPr lang="es-CL" sz="1300">
                <a:solidFill>
                  <a:srgbClr val="1E293B"/>
                </a:solidFill>
              </a:rPr>
              <a:t>11</a:t>
            </a:r>
            <a:endParaRPr b="0" i="0" sz="13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548640" y="3616051"/>
            <a:ext cx="6400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300">
                <a:solidFill>
                  <a:srgbClr val="1E293B"/>
                </a:solidFill>
              </a:rPr>
              <a:t>6</a:t>
            </a:r>
            <a:r>
              <a:rPr b="0" i="0" lang="es-CL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.- Modelo </a:t>
            </a:r>
            <a:r>
              <a:rPr lang="es-CL" sz="1300">
                <a:solidFill>
                  <a:srgbClr val="1E293B"/>
                </a:solidFill>
              </a:rPr>
              <a:t>físico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2"/>
          <p:cNvSpPr/>
          <p:nvPr/>
        </p:nvSpPr>
        <p:spPr>
          <a:xfrm>
            <a:off x="6858000" y="3917801"/>
            <a:ext cx="1371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Arial"/>
              <a:buNone/>
            </a:pPr>
            <a:r>
              <a:rPr lang="es-CL" sz="1300">
                <a:solidFill>
                  <a:srgbClr val="1E293B"/>
                </a:solidFill>
              </a:rPr>
              <a:t>12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" name="Google Shape;43;p2"/>
          <p:cNvSpPr/>
          <p:nvPr/>
        </p:nvSpPr>
        <p:spPr>
          <a:xfrm>
            <a:off x="548640" y="3917801"/>
            <a:ext cx="6400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300">
                <a:solidFill>
                  <a:srgbClr val="1E293B"/>
                </a:solidFill>
              </a:rPr>
              <a:t>7</a:t>
            </a:r>
            <a:r>
              <a:rPr b="0" i="0" lang="es-CL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.- </a:t>
            </a:r>
            <a:r>
              <a:rPr lang="es-CL" sz="1300">
                <a:solidFill>
                  <a:srgbClr val="1E293B"/>
                </a:solidFill>
              </a:rPr>
              <a:t>Trazabilidad Scrum ++ 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548640" y="2420746"/>
            <a:ext cx="6400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45720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300">
                <a:solidFill>
                  <a:srgbClr val="1E293B"/>
                </a:solidFill>
              </a:rPr>
              <a:t>3</a:t>
            </a:r>
            <a:r>
              <a:rPr b="0" i="0" lang="es-CL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.1- Diagrama de </a:t>
            </a:r>
            <a:r>
              <a:rPr lang="es-CL" sz="1300">
                <a:solidFill>
                  <a:srgbClr val="1E293B"/>
                </a:solidFill>
              </a:rPr>
              <a:t>secuencia 3.2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2"/>
          <p:cNvSpPr/>
          <p:nvPr/>
        </p:nvSpPr>
        <p:spPr>
          <a:xfrm>
            <a:off x="548640" y="2718596"/>
            <a:ext cx="6400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45720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300">
                <a:solidFill>
                  <a:srgbClr val="1E293B"/>
                </a:solidFill>
              </a:rPr>
              <a:t>3</a:t>
            </a:r>
            <a:r>
              <a:rPr b="0" i="0" lang="es-CL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.2- </a:t>
            </a:r>
            <a:r>
              <a:rPr lang="es-CL" sz="1300">
                <a:solidFill>
                  <a:srgbClr val="1E293B"/>
                </a:solidFill>
              </a:rPr>
              <a:t>Vistas del CU 3.2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2"/>
          <p:cNvSpPr/>
          <p:nvPr/>
        </p:nvSpPr>
        <p:spPr>
          <a:xfrm>
            <a:off x="6858000" y="2420709"/>
            <a:ext cx="1371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Arial"/>
              <a:buNone/>
            </a:pPr>
            <a:r>
              <a:rPr lang="es-CL" sz="1300">
                <a:solidFill>
                  <a:srgbClr val="1E293B"/>
                </a:solidFill>
              </a:rPr>
              <a:t>7</a:t>
            </a:r>
            <a:endParaRPr b="0" i="0" sz="13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2"/>
          <p:cNvSpPr/>
          <p:nvPr/>
        </p:nvSpPr>
        <p:spPr>
          <a:xfrm>
            <a:off x="6858000" y="2716646"/>
            <a:ext cx="1371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Arial"/>
              <a:buNone/>
            </a:pPr>
            <a:r>
              <a:rPr lang="es-CL" sz="1300">
                <a:solidFill>
                  <a:srgbClr val="1E293B"/>
                </a:solidFill>
              </a:rPr>
              <a:t>8</a:t>
            </a:r>
            <a:endParaRPr b="0" i="0" sz="13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548640" y="1527778"/>
            <a:ext cx="6400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45720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Arial"/>
              <a:buNone/>
            </a:pPr>
            <a:r>
              <a:rPr b="0" i="0" lang="es-CL" sz="1300" u="none" cap="none" strike="noStrik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1.1- </a:t>
            </a:r>
            <a:r>
              <a:rPr lang="es-CL" sz="1300">
                <a:solidFill>
                  <a:srgbClr val="1E293B"/>
                </a:solidFill>
              </a:rPr>
              <a:t>Propuesta de s</a:t>
            </a:r>
            <a:r>
              <a:rPr lang="es-CL" sz="1300">
                <a:solidFill>
                  <a:srgbClr val="1E293B"/>
                </a:solidFill>
              </a:rPr>
              <a:t>olución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2"/>
          <p:cNvSpPr/>
          <p:nvPr/>
        </p:nvSpPr>
        <p:spPr>
          <a:xfrm>
            <a:off x="6858000" y="1515490"/>
            <a:ext cx="1371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E293B"/>
              </a:buClr>
              <a:buSzPts val="1300"/>
              <a:buFont typeface="Arial"/>
              <a:buNone/>
            </a:pPr>
            <a:r>
              <a:rPr lang="es-CL" sz="1300">
                <a:solidFill>
                  <a:srgbClr val="1E293B"/>
                </a:solidFill>
              </a:rPr>
              <a:t>4</a:t>
            </a:r>
            <a:endParaRPr b="0" i="0" sz="13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"/>
          <p:cNvSpPr/>
          <p:nvPr/>
        </p:nvSpPr>
        <p:spPr>
          <a:xfrm>
            <a:off x="2353325" y="1686750"/>
            <a:ext cx="3675900" cy="2128200"/>
          </a:xfrm>
          <a:prstGeom prst="roundRect">
            <a:avLst>
              <a:gd fmla="val 12496" name="adj"/>
            </a:avLst>
          </a:prstGeom>
          <a:solidFill>
            <a:schemeClr val="l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600">
                <a:solidFill>
                  <a:schemeClr val="dk1"/>
                </a:solidFill>
              </a:rPr>
              <a:t>Los usuarios tienen una percepción muy limitada respecto al costo real y la huella de carbono que generan las computadoras, entornos cloud y servidores locales</a:t>
            </a:r>
            <a:endParaRPr sz="16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4"/>
          <p:cNvSpPr/>
          <p:nvPr/>
        </p:nvSpPr>
        <p:spPr>
          <a:xfrm>
            <a:off x="0" y="799"/>
            <a:ext cx="8161019" cy="76962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4"/>
          <p:cNvSpPr/>
          <p:nvPr/>
        </p:nvSpPr>
        <p:spPr>
          <a:xfrm>
            <a:off x="492863" y="-3850"/>
            <a:ext cx="73152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Trebuchet MS"/>
              <a:buNone/>
            </a:pPr>
            <a:r>
              <a:rPr b="1" lang="es-CL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1</a:t>
            </a:r>
            <a:r>
              <a:rPr b="1" i="0" lang="es-CL" sz="2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. </a:t>
            </a:r>
            <a:r>
              <a:rPr b="1" lang="es-CL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Introducción</a:t>
            </a: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8" name="Google Shape;5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99164" y="86922"/>
            <a:ext cx="706691" cy="595775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4"/>
          <p:cNvSpPr/>
          <p:nvPr/>
        </p:nvSpPr>
        <p:spPr>
          <a:xfrm>
            <a:off x="2353325" y="1686750"/>
            <a:ext cx="3675900" cy="595800"/>
          </a:xfrm>
          <a:prstGeom prst="round2SameRect">
            <a:avLst>
              <a:gd fmla="val 41730" name="adj1"/>
              <a:gd fmla="val 0" name="adj2"/>
            </a:avLst>
          </a:prstGeom>
          <a:solidFill>
            <a:srgbClr val="1A3A6B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s-CL" sz="2100">
                <a:solidFill>
                  <a:schemeClr val="lt1"/>
                </a:solidFill>
              </a:rPr>
              <a:t>Problemática</a:t>
            </a:r>
            <a:endParaRPr sz="17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ec37d9229b_2_22"/>
          <p:cNvSpPr/>
          <p:nvPr/>
        </p:nvSpPr>
        <p:spPr>
          <a:xfrm>
            <a:off x="0" y="799"/>
            <a:ext cx="8160900" cy="7695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ec37d9229b_2_22"/>
          <p:cNvSpPr/>
          <p:nvPr/>
        </p:nvSpPr>
        <p:spPr>
          <a:xfrm>
            <a:off x="457200" y="0"/>
            <a:ext cx="73152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Trebuchet MS"/>
              <a:buNone/>
            </a:pPr>
            <a:r>
              <a:rPr b="1" lang="es-CL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1</a:t>
            </a:r>
            <a:r>
              <a:rPr b="1" i="0" lang="es-CL" sz="2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.1 </a:t>
            </a:r>
            <a:r>
              <a:rPr b="1" lang="es-CL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Propuesta de solución</a:t>
            </a: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7" name="Google Shape;67;g3ec37d9229b_2_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99164" y="86922"/>
            <a:ext cx="706691" cy="59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g3ec37d9229b_2_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929700"/>
            <a:ext cx="8839198" cy="380327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7"/>
          <p:cNvSpPr/>
          <p:nvPr/>
        </p:nvSpPr>
        <p:spPr>
          <a:xfrm>
            <a:off x="0" y="799"/>
            <a:ext cx="8161019" cy="76962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7"/>
          <p:cNvSpPr/>
          <p:nvPr/>
        </p:nvSpPr>
        <p:spPr>
          <a:xfrm>
            <a:off x="457200" y="0"/>
            <a:ext cx="7315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2</a:t>
            </a:r>
            <a:r>
              <a:rPr b="1" i="0" lang="es-CL" sz="2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. </a:t>
            </a:r>
            <a:r>
              <a:rPr b="1" lang="es-CL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Alcance Incremento 1</a:t>
            </a:r>
            <a:endParaRPr b="1" i="0" sz="2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76" name="Google Shape;76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99164" y="86922"/>
            <a:ext cx="706691" cy="59577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77" name="Google Shape;77;p7"/>
          <p:cNvGraphicFramePr/>
          <p:nvPr/>
        </p:nvGraphicFramePr>
        <p:xfrm>
          <a:off x="78350" y="826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{A9C3F6F2-39F1-46C3-9ABE-BABA8FFFB8BF}</a:tableStyleId>
              </a:tblPr>
              <a:tblGrid>
                <a:gridCol w="493800"/>
                <a:gridCol w="1865000"/>
                <a:gridCol w="3549750"/>
                <a:gridCol w="844275"/>
                <a:gridCol w="841750"/>
                <a:gridCol w="995900"/>
              </a:tblGrid>
              <a:tr h="308050"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700"/>
                        <a:t>N°</a:t>
                      </a:r>
                      <a:r>
                        <a:rPr lang="es-CL" sz="700"/>
                        <a:t>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700"/>
                        <a:t>Funcionalidad</a:t>
                      </a:r>
                      <a:r>
                        <a:rPr lang="es-CL" sz="700"/>
                        <a:t>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700"/>
                        <a:t>Casos de uso incluidos</a:t>
                      </a:r>
                      <a:r>
                        <a:rPr lang="es-CL" sz="700"/>
                        <a:t>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700"/>
                        <a:t>Cant.</a:t>
                      </a:r>
                      <a:r>
                        <a:rPr lang="es-CL" sz="700"/>
                        <a:t>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700"/>
                        <a:t>% Parcial</a:t>
                      </a:r>
                      <a:r>
                        <a:rPr lang="es-CL" sz="700"/>
                        <a:t>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700"/>
                        <a:t>% Acumulado</a:t>
                      </a:r>
                      <a:r>
                        <a:rPr lang="es-CL" sz="700"/>
                        <a:t>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</a:tr>
              <a:tr h="334025"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1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Visualización de indicadores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CU 3.1, CU 3.2, CU 4.1, CU 4.2, CU 5.1, CU 5.2, CU 6.1, CU 6.2, CU 7.1, CU 7.2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10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7,1%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7,1%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8675"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2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Advertencias y recomendaciones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CU 11.1, CU 11.2, CU 12.1, CU 12.2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4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2,9%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10,0%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</a:tr>
              <a:tr h="261025"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3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Gestión de archivos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CU 13.1, CU 13.2, CU 14.1, CU 14.2, CU 15.1, CU 15.2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6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4,3%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14,3%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0950"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4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Configuración de métricas y umbrales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CU 16.1, CU 16.2, CU 17.1, CU 17.2, CU 19.1, CU 19.2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6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4,3%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18,6%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</a:tr>
              <a:tr h="238725"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5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Selección y filtrado de regiones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CU 20.1, CU 20.2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2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1,4%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20,0%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4025"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6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Catálogo de hardware, sincronización con API y actualización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CU 26.1, CU 26.2, CU 34.1, CU 34.2, CU 35.1, CU 35.2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6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4,3%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24,3%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</a:tr>
              <a:tr h="290800"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7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Evaluación, aviso y sondeo de datos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CU 36.1, CU 36.2, CU 37.1, CU 37.2, CU 38.1, CU 38.2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6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4,3%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28,6%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4500"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8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Seguimiento activo, notificaciones y actualización de datos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CU 47.1, CU 47.2, CU 62.1, CU 62.2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4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2,9%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31,4%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</a:tr>
              <a:tr h="308050"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9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Análisis energético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CU 55.1, CU 55.2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2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1,4%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32,9%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10625"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10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Inicio Sesión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CU 56.1, CU 56.2, CU 57.1, CU 57.2, CU 59.1, CU 59.2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6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4,3%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37,1%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9FC5E8"/>
                    </a:solidFill>
                  </a:tcPr>
                </a:tc>
              </a:tr>
              <a:tr h="204700"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11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Comparación y archivado de modelos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CU 61.1, CU 61.2, CU 63.1, CU 63.2, CU 69.1, CU 69.2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6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4,3%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700"/>
                        <a:t>41,4% </a:t>
                      </a:r>
                      <a:endParaRPr sz="700"/>
                    </a:p>
                  </a:txBody>
                  <a:tcPr marT="91425" marB="91425" marR="91425" marL="91425">
                    <a:lnL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73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78" name="Google Shape;78;p7"/>
          <p:cNvSpPr/>
          <p:nvPr/>
        </p:nvSpPr>
        <p:spPr>
          <a:xfrm>
            <a:off x="5943600" y="4878000"/>
            <a:ext cx="3164400" cy="228600"/>
          </a:xfrm>
          <a:prstGeom prst="rect">
            <a:avLst/>
          </a:prstGeom>
          <a:noFill/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s-CL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Fuente: Elaborado por los estudiantes de acuerdo con el proyecto.</a:t>
            </a:r>
            <a:r>
              <a:rPr lang="es-CL" sz="1100">
                <a:solidFill>
                  <a:schemeClr val="dk1"/>
                </a:solidFill>
              </a:rPr>
              <a:t> </a:t>
            </a:r>
            <a:r>
              <a:rPr lang="es-CL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2026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"/>
          <p:cNvSpPr/>
          <p:nvPr/>
        </p:nvSpPr>
        <p:spPr>
          <a:xfrm>
            <a:off x="0" y="0"/>
            <a:ext cx="8161019" cy="76962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0"/>
          <p:cNvSpPr/>
          <p:nvPr/>
        </p:nvSpPr>
        <p:spPr>
          <a:xfrm>
            <a:off x="457200" y="0"/>
            <a:ext cx="7315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Trebuchet MS"/>
              <a:buNone/>
            </a:pPr>
            <a:r>
              <a:rPr b="1" lang="es-CL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3</a:t>
            </a:r>
            <a:r>
              <a:rPr b="1" i="0" lang="es-CL" sz="2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. </a:t>
            </a:r>
            <a:r>
              <a:rPr b="1" lang="es-CL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Requerimiento 03 - CU 3.2 - Actualizando dinámicamente el indicador verde.</a:t>
            </a:r>
            <a:endParaRPr b="0" i="0" sz="2400" u="none" cap="none" strike="noStrike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86" name="Google Shape;86;p10"/>
          <p:cNvSpPr/>
          <p:nvPr/>
        </p:nvSpPr>
        <p:spPr>
          <a:xfrm>
            <a:off x="5905500" y="4837425"/>
            <a:ext cx="3164700" cy="228600"/>
          </a:xfrm>
          <a:prstGeom prst="rect">
            <a:avLst/>
          </a:prstGeom>
          <a:noFill/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s-CL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Fuente: Elaborado por los estudiantes de acuerdo con el proyecto.</a:t>
            </a:r>
            <a:r>
              <a:rPr lang="es-CL" sz="1100">
                <a:solidFill>
                  <a:schemeClr val="dk1"/>
                </a:solidFill>
              </a:rPr>
              <a:t> </a:t>
            </a:r>
            <a:r>
              <a:rPr lang="es-CL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2026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7" name="Google Shape;8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99164" y="86922"/>
            <a:ext cx="706691" cy="59577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88" name="Google Shape;88;p10"/>
          <p:cNvGraphicFramePr/>
          <p:nvPr/>
        </p:nvGraphicFramePr>
        <p:xfrm>
          <a:off x="5146775" y="915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{A9C3F6F2-39F1-46C3-9ABE-BABA8FFFB8BF}</a:tableStyleId>
              </a:tblPr>
              <a:tblGrid>
                <a:gridCol w="1300975"/>
                <a:gridCol w="2558100"/>
              </a:tblGrid>
              <a:tr h="627550"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b="1"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Precondiciones</a:t>
                      </a:r>
                      <a:r>
                        <a:rPr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Interfaz en modo de edición. 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32450"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b="1"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Excepciones</a:t>
                      </a:r>
                      <a:r>
                        <a:rPr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Excepción 1: Cálculo complejo. El sistema muestra un indicador de carga temporal mientras finaliza el procesamiento de los nuevos datos. 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27550"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b="1"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Poscondiciones</a:t>
                      </a:r>
                      <a:r>
                        <a:rPr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Indicador cambia a estado verde instantáneamente. 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27550"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b="1"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Dependencias</a:t>
                      </a:r>
                      <a:r>
                        <a:rPr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Módulo de cálculo analítico en memoria “CU 3.1”. 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89" name="Google Shape;89;p10"/>
          <p:cNvGraphicFramePr/>
          <p:nvPr/>
        </p:nvGraphicFramePr>
        <p:xfrm>
          <a:off x="64875" y="9156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{A9C3F6F2-39F1-46C3-9ABE-BABA8FFFB8BF}</a:tableStyleId>
              </a:tblPr>
              <a:tblGrid>
                <a:gridCol w="1098800"/>
                <a:gridCol w="3485500"/>
              </a:tblGrid>
              <a:tr h="449325"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b="1"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Actores</a:t>
                      </a:r>
                      <a:r>
                        <a:rPr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Usuario</a:t>
                      </a:r>
                      <a:r>
                        <a:rPr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. 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77300"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b="1"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Resumen</a:t>
                      </a:r>
                      <a:r>
                        <a:rPr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Si el usuario baja el consumo de componentes, el sistema recalcula inmediatamente y enciende el indicador verde al cruzar bajo el 50%. 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63325"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b="1"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Frecuencia</a:t>
                      </a:r>
                      <a:r>
                        <a:rPr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Automática / En tiempo real. 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519250"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b="1"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Descripción</a:t>
                      </a:r>
                      <a:r>
                        <a:rPr lang="es-CL" sz="1200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63500" marR="6350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400"/>
                        </a:spcAft>
                        <a:buNone/>
                      </a:pPr>
                      <a:r>
                        <a:rPr lang="es-CL" sz="1200">
                          <a:solidFill>
                            <a:srgbClr val="FF000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El usuario modifica un parámetro de hardware a la baja,</a:t>
                      </a:r>
                      <a:r>
                        <a:rPr lang="es-CL" sz="1200">
                          <a:solidFill>
                            <a:srgbClr val="0070C0"/>
                          </a:solidFill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 sistema recalcula los datos en memoria al instante [Excepción 1], detecta si se ha producido un cruce del umbral inferior al 50% y actualiza automáticamente la interfaz mostrando el indicador en color verde. </a:t>
                      </a:r>
                      <a:endParaRPr sz="1200">
                        <a:solidFill>
                          <a:srgbClr val="0070C0"/>
                        </a:solidFill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ec37d9229b_3_0"/>
          <p:cNvSpPr/>
          <p:nvPr/>
        </p:nvSpPr>
        <p:spPr>
          <a:xfrm>
            <a:off x="0" y="0"/>
            <a:ext cx="8160900" cy="7695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g3ec37d9229b_3_0"/>
          <p:cNvSpPr/>
          <p:nvPr/>
        </p:nvSpPr>
        <p:spPr>
          <a:xfrm>
            <a:off x="457200" y="0"/>
            <a:ext cx="73152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Trebuchet MS"/>
              <a:buNone/>
            </a:pPr>
            <a:r>
              <a:rPr b="1" lang="es-CL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3</a:t>
            </a:r>
            <a:r>
              <a:rPr b="1" i="0" lang="es-CL" sz="2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.1 </a:t>
            </a:r>
            <a:r>
              <a:rPr b="1" lang="es-CL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Diagrama de secuencia CU 3.2</a:t>
            </a:r>
            <a:endParaRPr b="0" i="0" sz="2400" u="none" cap="none" strike="noStrike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97" name="Google Shape;97;g3ec37d9229b_3_0"/>
          <p:cNvSpPr/>
          <p:nvPr/>
        </p:nvSpPr>
        <p:spPr>
          <a:xfrm>
            <a:off x="5905500" y="4837425"/>
            <a:ext cx="3164700" cy="228600"/>
          </a:xfrm>
          <a:prstGeom prst="rect">
            <a:avLst/>
          </a:prstGeom>
          <a:noFill/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s-CL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Fuente: Elaborado por los estudiantes de acuerdo con el proyecto.</a:t>
            </a:r>
            <a:r>
              <a:rPr lang="es-CL" sz="1100">
                <a:solidFill>
                  <a:schemeClr val="dk1"/>
                </a:solidFill>
              </a:rPr>
              <a:t> </a:t>
            </a:r>
            <a:r>
              <a:rPr lang="es-CL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2026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8" name="Google Shape;98;g3ec37d9229b_3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99164" y="86922"/>
            <a:ext cx="706691" cy="59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g3ec37d9229b_3_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2150" y="1094125"/>
            <a:ext cx="8443275" cy="3220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ec37d9229b_3_9"/>
          <p:cNvSpPr/>
          <p:nvPr/>
        </p:nvSpPr>
        <p:spPr>
          <a:xfrm>
            <a:off x="0" y="0"/>
            <a:ext cx="8160900" cy="7695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g3ec37d9229b_3_9"/>
          <p:cNvSpPr/>
          <p:nvPr/>
        </p:nvSpPr>
        <p:spPr>
          <a:xfrm>
            <a:off x="457200" y="0"/>
            <a:ext cx="73152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Trebuchet MS"/>
              <a:buNone/>
            </a:pPr>
            <a:r>
              <a:rPr b="1" lang="es-CL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3</a:t>
            </a:r>
            <a:r>
              <a:rPr b="1" i="0" lang="es-CL" sz="2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.2 </a:t>
            </a:r>
            <a:r>
              <a:rPr b="1" lang="es-CL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Vistas del CU 3.2</a:t>
            </a:r>
            <a:endParaRPr b="0" i="0" sz="2400" u="none" cap="none" strike="noStrike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07" name="Google Shape;107;g3ec37d9229b_3_9"/>
          <p:cNvSpPr/>
          <p:nvPr/>
        </p:nvSpPr>
        <p:spPr>
          <a:xfrm>
            <a:off x="5905500" y="4837425"/>
            <a:ext cx="3164700" cy="228600"/>
          </a:xfrm>
          <a:prstGeom prst="rect">
            <a:avLst/>
          </a:prstGeom>
          <a:noFill/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s-CL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Fuente: Elaborado por los estudiantes de acuerdo con el proyecto.</a:t>
            </a:r>
            <a:r>
              <a:rPr lang="es-CL" sz="1100">
                <a:solidFill>
                  <a:schemeClr val="dk1"/>
                </a:solidFill>
              </a:rPr>
              <a:t> </a:t>
            </a:r>
            <a:r>
              <a:rPr lang="es-CL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2026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8" name="Google Shape;108;g3ec37d9229b_3_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99164" y="86922"/>
            <a:ext cx="706691" cy="59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g3ec37d9229b_3_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96050" y="1303450"/>
            <a:ext cx="3603120" cy="3125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g3ec37d9229b_3_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5300" y="1303450"/>
            <a:ext cx="3899400" cy="3125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8"/>
          <p:cNvSpPr/>
          <p:nvPr/>
        </p:nvSpPr>
        <p:spPr>
          <a:xfrm>
            <a:off x="0" y="799"/>
            <a:ext cx="8161019" cy="76962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8"/>
          <p:cNvSpPr/>
          <p:nvPr/>
        </p:nvSpPr>
        <p:spPr>
          <a:xfrm>
            <a:off x="457200" y="0"/>
            <a:ext cx="7315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Trebuchet MS"/>
              <a:buNone/>
            </a:pPr>
            <a:r>
              <a:rPr b="1" lang="es-CL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4.</a:t>
            </a:r>
            <a:r>
              <a:rPr b="1" i="0" lang="es-CL" sz="2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r>
              <a:rPr b="1" lang="es-CL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Diagrama de Despliegue</a:t>
            </a:r>
            <a:endParaRPr b="0" i="0" sz="2400" u="none" cap="none" strike="noStrike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18" name="Google Shape;11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99164" y="86922"/>
            <a:ext cx="706691" cy="595775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8"/>
          <p:cNvSpPr/>
          <p:nvPr/>
        </p:nvSpPr>
        <p:spPr>
          <a:xfrm>
            <a:off x="5920150" y="4837425"/>
            <a:ext cx="3150000" cy="228600"/>
          </a:xfrm>
          <a:prstGeom prst="rect">
            <a:avLst/>
          </a:prstGeom>
          <a:noFill/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s-CL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Fuente: Elaborado por los estudiantes de acuerdo con el proyecto.</a:t>
            </a:r>
            <a:r>
              <a:rPr lang="es-CL" sz="1100">
                <a:solidFill>
                  <a:schemeClr val="dk1"/>
                </a:solidFill>
              </a:rPr>
              <a:t> </a:t>
            </a:r>
            <a:r>
              <a:rPr lang="es-CL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2026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0" name="Google Shape;120;p8" title="Diagrama de Despliegue,drawio (mejor calidad).png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-3686" l="0" r="0" t="4322"/>
          <a:stretch/>
        </p:blipFill>
        <p:spPr>
          <a:xfrm>
            <a:off x="1832625" y="892738"/>
            <a:ext cx="5478743" cy="39446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9"/>
          <p:cNvSpPr/>
          <p:nvPr/>
        </p:nvSpPr>
        <p:spPr>
          <a:xfrm>
            <a:off x="0" y="799"/>
            <a:ext cx="8161019" cy="76962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9"/>
          <p:cNvSpPr/>
          <p:nvPr/>
        </p:nvSpPr>
        <p:spPr>
          <a:xfrm>
            <a:off x="457200" y="0"/>
            <a:ext cx="7315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Trebuchet MS"/>
              <a:buNone/>
            </a:pPr>
            <a:r>
              <a:rPr b="1" lang="es-CL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5</a:t>
            </a:r>
            <a:r>
              <a:rPr b="1" i="0" lang="es-CL" sz="2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. </a:t>
            </a:r>
            <a:r>
              <a:rPr b="1" lang="es-CL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Diagrama de Componentes </a:t>
            </a:r>
            <a:endParaRPr b="0" i="0" sz="2400" u="none" cap="none" strike="noStrike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28" name="Google Shape;12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99164" y="86922"/>
            <a:ext cx="706691" cy="595775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9"/>
          <p:cNvSpPr/>
          <p:nvPr/>
        </p:nvSpPr>
        <p:spPr>
          <a:xfrm>
            <a:off x="5905500" y="4837425"/>
            <a:ext cx="3164400" cy="228600"/>
          </a:xfrm>
          <a:prstGeom prst="rect">
            <a:avLst/>
          </a:prstGeom>
          <a:noFill/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s-CL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Fuente: Elaborado por los estudiantes de acuerdo con el proyecto.  2026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" name="Google Shape;130;p9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19625" y="1016650"/>
            <a:ext cx="6252774" cy="3782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1"/>
          <p:cNvSpPr/>
          <p:nvPr/>
        </p:nvSpPr>
        <p:spPr>
          <a:xfrm>
            <a:off x="0" y="0"/>
            <a:ext cx="8161019" cy="76962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7" name="Google Shape;13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99164" y="86922"/>
            <a:ext cx="706691" cy="595775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11"/>
          <p:cNvSpPr/>
          <p:nvPr/>
        </p:nvSpPr>
        <p:spPr>
          <a:xfrm>
            <a:off x="457200" y="0"/>
            <a:ext cx="73152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6</a:t>
            </a:r>
            <a:r>
              <a:rPr b="1" i="0" lang="es-CL" sz="2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. </a:t>
            </a:r>
            <a:r>
              <a:rPr b="1" lang="es-CL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Modelo </a:t>
            </a:r>
            <a:r>
              <a:rPr b="1" lang="es-CL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Físico</a:t>
            </a:r>
            <a:endParaRPr b="1" i="0" sz="2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39" name="Google Shape;139;p11"/>
          <p:cNvSpPr/>
          <p:nvPr/>
        </p:nvSpPr>
        <p:spPr>
          <a:xfrm>
            <a:off x="5883525" y="4837425"/>
            <a:ext cx="3186300" cy="228600"/>
          </a:xfrm>
          <a:prstGeom prst="rect">
            <a:avLst/>
          </a:prstGeom>
          <a:noFill/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lang="es-CL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Fuente: Elaborado por los estudiantes de acuerdo con el proyecto.</a:t>
            </a:r>
            <a:r>
              <a:rPr lang="es-CL" sz="1100">
                <a:solidFill>
                  <a:schemeClr val="dk1"/>
                </a:solidFill>
              </a:rPr>
              <a:t> </a:t>
            </a:r>
            <a:r>
              <a:rPr lang="es-CL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2026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0" name="Google Shape;140;p11" title="Modelo_fisico(SQL).drawio.png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169" r="159" t="0"/>
          <a:stretch/>
        </p:blipFill>
        <p:spPr>
          <a:xfrm>
            <a:off x="1308975" y="1088988"/>
            <a:ext cx="6419651" cy="36419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ec0232a584_0_17"/>
          <p:cNvSpPr/>
          <p:nvPr/>
        </p:nvSpPr>
        <p:spPr>
          <a:xfrm>
            <a:off x="0" y="0"/>
            <a:ext cx="8160900" cy="7695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7" name="Google Shape;147;g3ec0232a584_0_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99164" y="86922"/>
            <a:ext cx="706691" cy="595775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g3ec0232a584_0_17"/>
          <p:cNvSpPr/>
          <p:nvPr/>
        </p:nvSpPr>
        <p:spPr>
          <a:xfrm>
            <a:off x="457200" y="0"/>
            <a:ext cx="73152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CL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7</a:t>
            </a:r>
            <a:r>
              <a:rPr b="1" i="0" lang="es-CL" sz="2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. </a:t>
            </a:r>
            <a:r>
              <a:rPr b="1" lang="es-CL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Trazabilidad </a:t>
            </a:r>
            <a:r>
              <a:rPr b="1" lang="es-CL" sz="2400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Scrum ++</a:t>
            </a:r>
            <a:endParaRPr b="1" i="0" sz="2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9" name="Google Shape;149;g3ec0232a584_0_17"/>
          <p:cNvSpPr/>
          <p:nvPr/>
        </p:nvSpPr>
        <p:spPr>
          <a:xfrm>
            <a:off x="5905275" y="4873775"/>
            <a:ext cx="3193800" cy="228600"/>
          </a:xfrm>
          <a:prstGeom prst="rect">
            <a:avLst/>
          </a:prstGeom>
          <a:noFill/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900"/>
              <a:buFont typeface="Calibri"/>
              <a:buNone/>
            </a:pPr>
            <a:r>
              <a:rPr b="0" i="0" lang="es-CL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Fuente: </a:t>
            </a:r>
            <a:r>
              <a:rPr lang="es-CL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Elaborado por los estudiantes de acuerdo con el proyecto.</a:t>
            </a:r>
            <a:r>
              <a:rPr lang="es-CL" sz="1100">
                <a:solidFill>
                  <a:schemeClr val="dk1"/>
                </a:solidFill>
              </a:rPr>
              <a:t> </a:t>
            </a:r>
            <a:r>
              <a:rPr b="0" i="0" lang="es-CL" sz="900" u="none" cap="none" strike="noStrik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 2026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0" name="Google Shape;150;g3ec0232a584_0_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2425" y="774350"/>
            <a:ext cx="7146426" cy="40582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F2F7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home/claude/unab_extracted/ppt/media/image1.png" id="156" name="Google Shape;156;g3ec0232a584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1931" y="348544"/>
            <a:ext cx="971432" cy="818935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g3ec0232a584_0_0"/>
          <p:cNvSpPr/>
          <p:nvPr/>
        </p:nvSpPr>
        <p:spPr>
          <a:xfrm>
            <a:off x="1139613" y="920609"/>
            <a:ext cx="6858000" cy="2011800"/>
          </a:xfrm>
          <a:prstGeom prst="rect">
            <a:avLst/>
          </a:prstGeom>
          <a:noFill/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s-CL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Proyecto de Ingeniería de Software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para el Sistema Evaluador de Daño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s-CL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Ambiental para Universidad Andrés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s-CL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Bello</a:t>
            </a:r>
            <a:endParaRPr b="0" i="0" sz="2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g3ec0232a584_0_0"/>
          <p:cNvSpPr/>
          <p:nvPr/>
        </p:nvSpPr>
        <p:spPr>
          <a:xfrm>
            <a:off x="357931" y="3571957"/>
            <a:ext cx="2994900" cy="17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L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Autores: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-"/>
            </a:pP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Brighitte Naomi Mia Espinoza Condori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-"/>
            </a:pP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Ignacia Antonia Huerta Córdova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-"/>
            </a:pP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Cristóbal Andrés Ibarra Ortiz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-"/>
            </a:pP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José Tomás Lastra Polanco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g3ec0232a584_0_0"/>
          <p:cNvSpPr/>
          <p:nvPr/>
        </p:nvSpPr>
        <p:spPr>
          <a:xfrm>
            <a:off x="6267592" y="3698523"/>
            <a:ext cx="2712300" cy="12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s-CL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Profesor:</a:t>
            </a:r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Paulo Luis Francisco Quinsacara Jofré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Fecha: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s-CL" sz="1100"/>
              <a:t>4</a:t>
            </a: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s-CL" sz="1100"/>
              <a:t>Junio</a:t>
            </a: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de 2026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Santiago de Chile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g3ec0232a584_0_0"/>
          <p:cNvSpPr/>
          <p:nvPr/>
        </p:nvSpPr>
        <p:spPr>
          <a:xfrm>
            <a:off x="3001143" y="3844749"/>
            <a:ext cx="2994900" cy="94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-"/>
            </a:pP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Renato Andrés Leal González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-"/>
            </a:pP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Fernanda de Jesús Pavez Urbina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171450" lvl="0" marL="17145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-"/>
            </a:pPr>
            <a:r>
              <a:rPr b="0" i="0" lang="es-CL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José Enrique Zayas Gómez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g3ec0232a584_0_0"/>
          <p:cNvSpPr/>
          <p:nvPr/>
        </p:nvSpPr>
        <p:spPr>
          <a:xfrm>
            <a:off x="1" y="2941320"/>
            <a:ext cx="9146400" cy="4998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2026-04-20T05:10:19Z</dcterms:created>
  <dc:creator>Equipo Semáforo IA - UNAB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0x010100274A20500C5E834F8F8EC8FE624F1F89</vt:lpwstr>
  </property>
</Properties>
</file>