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XI1DXc25nBut9bPalz3Gosjwa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871C9B-705A-4F8F-818C-7330543638D5}">
  <a:tblStyle styleId="{6C871C9B-705A-4F8F-818C-7330543638D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228850" cy="458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2913058" y="0"/>
            <a:ext cx="2228850" cy="458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-171450" y="1143000"/>
            <a:ext cx="5486400" cy="308609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514350" y="4400549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08"/>
            <a:ext cx="2228850" cy="4587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2913058" y="8685208"/>
            <a:ext cx="2228850" cy="4587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514350" y="4400549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2913058" y="8685208"/>
            <a:ext cx="2228850" cy="4587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514350" y="4400549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2913058" y="8685208"/>
            <a:ext cx="2228850" cy="4587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514350" y="4400549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6" name="Google Shape;56;p4:notes"/>
          <p:cNvSpPr txBox="1"/>
          <p:nvPr>
            <p:ph idx="12" type="sldNum"/>
          </p:nvPr>
        </p:nvSpPr>
        <p:spPr>
          <a:xfrm>
            <a:off x="2913058" y="8685208"/>
            <a:ext cx="2228850" cy="4587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c37d9229b_2_22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ec37d9229b_2_22:notes"/>
          <p:cNvSpPr txBox="1"/>
          <p:nvPr>
            <p:ph idx="1" type="body"/>
          </p:nvPr>
        </p:nvSpPr>
        <p:spPr>
          <a:xfrm>
            <a:off x="514350" y="4400549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6" name="Google Shape;66;g3ec37d9229b_2_22:notes"/>
          <p:cNvSpPr txBox="1"/>
          <p:nvPr>
            <p:ph idx="12" type="sldNum"/>
          </p:nvPr>
        </p:nvSpPr>
        <p:spPr>
          <a:xfrm>
            <a:off x="2913058" y="8685208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7:notes"/>
          <p:cNvSpPr txBox="1"/>
          <p:nvPr>
            <p:ph idx="1" type="body"/>
          </p:nvPr>
        </p:nvSpPr>
        <p:spPr>
          <a:xfrm>
            <a:off x="514350" y="4400549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5" name="Google Shape;75;p7:notes"/>
          <p:cNvSpPr txBox="1"/>
          <p:nvPr>
            <p:ph idx="12" type="sldNum"/>
          </p:nvPr>
        </p:nvSpPr>
        <p:spPr>
          <a:xfrm>
            <a:off x="2913058" y="8685208"/>
            <a:ext cx="2228850" cy="4587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0:notes"/>
          <p:cNvSpPr txBox="1"/>
          <p:nvPr>
            <p:ph idx="1" type="body"/>
          </p:nvPr>
        </p:nvSpPr>
        <p:spPr>
          <a:xfrm>
            <a:off x="514350" y="4400549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5" name="Google Shape;85;p10:notes"/>
          <p:cNvSpPr txBox="1"/>
          <p:nvPr>
            <p:ph idx="12" type="sldNum"/>
          </p:nvPr>
        </p:nvSpPr>
        <p:spPr>
          <a:xfrm>
            <a:off x="2913058" y="8685208"/>
            <a:ext cx="2228850" cy="4587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c37d9229b_3_0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ec37d9229b_3_0:notes"/>
          <p:cNvSpPr txBox="1"/>
          <p:nvPr>
            <p:ph idx="1" type="body"/>
          </p:nvPr>
        </p:nvSpPr>
        <p:spPr>
          <a:xfrm>
            <a:off x="514350" y="4400549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7" name="Google Shape;97;g3ec37d9229b_3_0:notes"/>
          <p:cNvSpPr txBox="1"/>
          <p:nvPr>
            <p:ph idx="12" type="sldNum"/>
          </p:nvPr>
        </p:nvSpPr>
        <p:spPr>
          <a:xfrm>
            <a:off x="2913058" y="8685208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c37d9229b_3_9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ec37d9229b_3_9:notes"/>
          <p:cNvSpPr txBox="1"/>
          <p:nvPr>
            <p:ph idx="1" type="body"/>
          </p:nvPr>
        </p:nvSpPr>
        <p:spPr>
          <a:xfrm>
            <a:off x="514350" y="4400549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7" name="Google Shape;107;g3ec37d9229b_3_9:notes"/>
          <p:cNvSpPr txBox="1"/>
          <p:nvPr>
            <p:ph idx="12" type="sldNum"/>
          </p:nvPr>
        </p:nvSpPr>
        <p:spPr>
          <a:xfrm>
            <a:off x="2913058" y="8685208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514350" y="4400549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 txBox="1"/>
          <p:nvPr>
            <p:ph idx="12" type="sldNum"/>
          </p:nvPr>
        </p:nvSpPr>
        <p:spPr>
          <a:xfrm>
            <a:off x="2913058" y="8685208"/>
            <a:ext cx="2228850" cy="4587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514350" y="4400549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8" name="Google Shape;128;p9:notes"/>
          <p:cNvSpPr txBox="1"/>
          <p:nvPr>
            <p:ph idx="12" type="sldNum"/>
          </p:nvPr>
        </p:nvSpPr>
        <p:spPr>
          <a:xfrm>
            <a:off x="2913058" y="8685208"/>
            <a:ext cx="2228850" cy="4587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514350" y="4400549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8" name="Google Shape;138;p11:notes"/>
          <p:cNvSpPr txBox="1"/>
          <p:nvPr>
            <p:ph idx="12" type="sldNum"/>
          </p:nvPr>
        </p:nvSpPr>
        <p:spPr>
          <a:xfrm>
            <a:off x="2913058" y="8685208"/>
            <a:ext cx="2228850" cy="4587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c63446b3e_0_1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ec63446b3e_0_1:notes"/>
          <p:cNvSpPr txBox="1"/>
          <p:nvPr>
            <p:ph idx="1" type="body"/>
          </p:nvPr>
        </p:nvSpPr>
        <p:spPr>
          <a:xfrm>
            <a:off x="514350" y="4400549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8" name="Google Shape;148;g3ec63446b3e_0_1:notes"/>
          <p:cNvSpPr txBox="1"/>
          <p:nvPr>
            <p:ph idx="12" type="sldNum"/>
          </p:nvPr>
        </p:nvSpPr>
        <p:spPr>
          <a:xfrm>
            <a:off x="2913058" y="8685208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c0232a584_0_17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ec0232a584_0_17:notes"/>
          <p:cNvSpPr txBox="1"/>
          <p:nvPr>
            <p:ph idx="1" type="body"/>
          </p:nvPr>
        </p:nvSpPr>
        <p:spPr>
          <a:xfrm>
            <a:off x="514350" y="4400549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8" name="Google Shape;158;g3ec0232a584_0_17:notes"/>
          <p:cNvSpPr txBox="1"/>
          <p:nvPr>
            <p:ph idx="12" type="sldNum"/>
          </p:nvPr>
        </p:nvSpPr>
        <p:spPr>
          <a:xfrm>
            <a:off x="2913058" y="8685208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c0232a584_0_0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ec0232a584_0_0:notes"/>
          <p:cNvSpPr txBox="1"/>
          <p:nvPr>
            <p:ph idx="1" type="body"/>
          </p:nvPr>
        </p:nvSpPr>
        <p:spPr>
          <a:xfrm>
            <a:off x="514350" y="4400549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8" name="Google Shape;168;g3ec0232a584_0_0:notes"/>
          <p:cNvSpPr txBox="1"/>
          <p:nvPr>
            <p:ph idx="12" type="sldNum"/>
          </p:nvPr>
        </p:nvSpPr>
        <p:spPr>
          <a:xfrm>
            <a:off x="2913058" y="8685208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rgbClr val="FFFFF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hyperlink" Target="https://drive.google.com/file/d/1WRis2hsQrRQdHL1CGYeigi6sLLTQykiA/view?usp=sharing" TargetMode="External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hyperlink" Target="https://drive.google.com/file/d/1SqH2PyMqLRNsCbGfWFMBvV5Emamf4VQC/view?usp=sharing" TargetMode="External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hyperlink" Target="https://drive.google.com/file/d/1gdjQuFdrkjRUs42AYUXEaQQ2LaUV2bKu/view?usp=sharing" TargetMode="External"/><Relationship Id="rId5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hyperlink" Target="https://drive.google.com/file/d/1dSLAbH5yQ-fDw9udW1lbCO3srXik_fQ8/view?usp=drive_link" TargetMode="External"/><Relationship Id="rId5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unab_extracted/ppt/media/image1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931" y="348544"/>
            <a:ext cx="971432" cy="81893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1139613" y="920609"/>
            <a:ext cx="6858000" cy="201168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Proyecto de Ingeniería de Software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el Sistema Evaluador de Daño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Ambiental para Universidad Andrés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Bello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57931" y="3571957"/>
            <a:ext cx="2994837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Autores: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b="0" i="0" lang="es-C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Brighitte Naomi Mia Espinoza Condori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b="0" i="0" lang="es-C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Ignacia Antonia Huerta Córdova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b="0" i="0" lang="es-C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Cristóbal Andrés Ibarra Ortiz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b="0" i="0" lang="es-C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José Tomás Lastra Polanco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267592" y="3698523"/>
            <a:ext cx="2712157" cy="1232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Profesor: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Paulo Luis Francisco Quinsacara Jofré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Fecha: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s-CL" sz="1100"/>
              <a:t>4</a:t>
            </a:r>
            <a:r>
              <a:rPr b="0" i="0" lang="es-C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s-CL" sz="1100"/>
              <a:t>Junio</a:t>
            </a:r>
            <a:r>
              <a:rPr b="0" i="0" lang="es-C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2026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Santiago de Chile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001143" y="3844749"/>
            <a:ext cx="2994837" cy="94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b="0" i="0" lang="es-C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Renato Andrés Leal González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b="0" i="0" lang="es-C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Fernanda de Jesús Pavez Urbina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b="0" i="0" lang="es-C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José Enrique Zayas Gómez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" y="2941320"/>
            <a:ext cx="9146348" cy="499659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3068850" y="2941325"/>
            <a:ext cx="30063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lt1"/>
                </a:solidFill>
              </a:rPr>
              <a:t>GRUPO 4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232411"/>
            <a:ext cx="8161019" cy="76962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3454" y="319332"/>
            <a:ext cx="706691" cy="59577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"/>
          <p:cNvSpPr/>
          <p:nvPr/>
        </p:nvSpPr>
        <p:spPr>
          <a:xfrm>
            <a:off x="457200" y="27432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1" lang="es-CL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12344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0" i="0" lang="es-CL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1.- </a:t>
            </a:r>
            <a:r>
              <a:rPr lang="es-CL" sz="1300">
                <a:solidFill>
                  <a:srgbClr val="1E293B"/>
                </a:solidFill>
              </a:rPr>
              <a:t>Introducción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858000" y="12344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lang="es-CL" sz="1300">
                <a:solidFill>
                  <a:srgbClr val="1E293B"/>
                </a:solidFill>
              </a:rPr>
              <a:t>3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8640" y="1821017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0" i="0" lang="es-CL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2.- </a:t>
            </a:r>
            <a:r>
              <a:rPr lang="es-CL" sz="1300">
                <a:solidFill>
                  <a:srgbClr val="1E293B"/>
                </a:solidFill>
              </a:rPr>
              <a:t>Alcance Incremento 1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858000" y="1821017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lang="es-CL" sz="1300">
                <a:solidFill>
                  <a:srgbClr val="1E293B"/>
                </a:solidFill>
              </a:rPr>
              <a:t>5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858000" y="2122768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lang="es-CL" sz="1300">
                <a:solidFill>
                  <a:srgbClr val="1E293B"/>
                </a:solidFill>
              </a:rPr>
              <a:t>6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2122821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rgbClr val="1E293B"/>
                </a:solidFill>
              </a:rPr>
              <a:t>3</a:t>
            </a:r>
            <a:r>
              <a:rPr b="0" i="0" lang="es-CL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.- </a:t>
            </a:r>
            <a:r>
              <a:rPr lang="es-CL" sz="1300">
                <a:solidFill>
                  <a:srgbClr val="1E293B"/>
                </a:solidFill>
              </a:rPr>
              <a:t>Requerimiento 03 - CU 3.2 - Actualizando </a:t>
            </a:r>
            <a:r>
              <a:rPr lang="es-CL" sz="1300">
                <a:solidFill>
                  <a:srgbClr val="1E293B"/>
                </a:solidFill>
              </a:rPr>
              <a:t>dinámicamente</a:t>
            </a:r>
            <a:r>
              <a:rPr lang="es-CL" sz="1300">
                <a:solidFill>
                  <a:srgbClr val="1E293B"/>
                </a:solidFill>
              </a:rPr>
              <a:t> el indicador verde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858000" y="3012546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lang="es-CL" sz="1300">
                <a:solidFill>
                  <a:srgbClr val="1E293B"/>
                </a:solidFill>
              </a:rPr>
              <a:t>9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48640" y="3012548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rgbClr val="1E293B"/>
                </a:solidFill>
              </a:rPr>
              <a:t>4</a:t>
            </a:r>
            <a:r>
              <a:rPr b="0" i="0" lang="es-CL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.- Diagrama de </a:t>
            </a:r>
            <a:r>
              <a:rPr lang="es-CL" sz="1300">
                <a:solidFill>
                  <a:srgbClr val="1E293B"/>
                </a:solidFill>
              </a:rPr>
              <a:t>despliegue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858000" y="3314298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lang="es-CL" sz="1300"/>
              <a:t>10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48640" y="3314300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rgbClr val="1E293B"/>
                </a:solidFill>
              </a:rPr>
              <a:t>5</a:t>
            </a:r>
            <a:r>
              <a:rPr b="0" i="0" lang="es-CL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.- Diagrama</a:t>
            </a:r>
            <a:r>
              <a:rPr lang="es-CL" sz="1300">
                <a:solidFill>
                  <a:srgbClr val="1E293B"/>
                </a:solidFill>
              </a:rPr>
              <a:t>s de componente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858000" y="3616050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lang="es-CL" sz="1300">
                <a:solidFill>
                  <a:srgbClr val="1E293B"/>
                </a:solidFill>
              </a:rPr>
              <a:t>11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48640" y="3616051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rgbClr val="1E293B"/>
                </a:solidFill>
              </a:rPr>
              <a:t>6</a:t>
            </a:r>
            <a:r>
              <a:rPr b="0" i="0" lang="es-CL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.- Modelo </a:t>
            </a:r>
            <a:r>
              <a:rPr lang="es-CL" sz="1300">
                <a:solidFill>
                  <a:srgbClr val="1E293B"/>
                </a:solidFill>
              </a:rPr>
              <a:t>físico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858000" y="3917801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lang="es-CL" sz="1300">
                <a:solidFill>
                  <a:srgbClr val="1E293B"/>
                </a:solidFill>
              </a:rPr>
              <a:t>12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48640" y="3917801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rgbClr val="1E293B"/>
                </a:solidFill>
              </a:rPr>
              <a:t>7</a:t>
            </a:r>
            <a:r>
              <a:rPr b="0" i="0" lang="es-CL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.- </a:t>
            </a:r>
            <a:r>
              <a:rPr lang="es-CL" sz="1300">
                <a:solidFill>
                  <a:srgbClr val="1E293B"/>
                </a:solidFill>
              </a:rPr>
              <a:t>Árbol</a:t>
            </a:r>
            <a:r>
              <a:rPr lang="es-CL" sz="1300">
                <a:solidFill>
                  <a:srgbClr val="1E293B"/>
                </a:solidFill>
              </a:rPr>
              <a:t> de navegación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48640" y="2420746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rgbClr val="1E293B"/>
                </a:solidFill>
              </a:rPr>
              <a:t>3</a:t>
            </a:r>
            <a:r>
              <a:rPr b="0" i="0" lang="es-CL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.1- Diagrama de </a:t>
            </a:r>
            <a:r>
              <a:rPr lang="es-CL" sz="1300">
                <a:solidFill>
                  <a:srgbClr val="1E293B"/>
                </a:solidFill>
              </a:rPr>
              <a:t>secuencia 3.2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48640" y="2718596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rgbClr val="1E293B"/>
                </a:solidFill>
              </a:rPr>
              <a:t>3</a:t>
            </a:r>
            <a:r>
              <a:rPr b="0" i="0" lang="es-CL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.2- </a:t>
            </a:r>
            <a:r>
              <a:rPr lang="es-CL" sz="1300">
                <a:solidFill>
                  <a:srgbClr val="1E293B"/>
                </a:solidFill>
              </a:rPr>
              <a:t>Vistas del CU 3.2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858000" y="2420709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lang="es-CL" sz="1300">
                <a:solidFill>
                  <a:srgbClr val="1E293B"/>
                </a:solidFill>
              </a:rPr>
              <a:t>7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858000" y="2716646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lang="es-CL" sz="1300">
                <a:solidFill>
                  <a:srgbClr val="1E293B"/>
                </a:solidFill>
              </a:rPr>
              <a:t>8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48640" y="1527778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0" i="0" lang="es-CL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1.1- </a:t>
            </a:r>
            <a:r>
              <a:rPr lang="es-CL" sz="1300">
                <a:solidFill>
                  <a:srgbClr val="1E293B"/>
                </a:solidFill>
              </a:rPr>
              <a:t>Propuesta de s</a:t>
            </a:r>
            <a:r>
              <a:rPr lang="es-CL" sz="1300">
                <a:solidFill>
                  <a:srgbClr val="1E293B"/>
                </a:solidFill>
              </a:rPr>
              <a:t>olución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858000" y="1515490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lang="es-CL" sz="1300">
                <a:solidFill>
                  <a:srgbClr val="1E293B"/>
                </a:solidFill>
              </a:rPr>
              <a:t>4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48640" y="4219551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rgbClr val="1E293B"/>
                </a:solidFill>
              </a:rPr>
              <a:t>8</a:t>
            </a:r>
            <a:r>
              <a:rPr b="0" i="0" lang="es-CL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.- </a:t>
            </a:r>
            <a:r>
              <a:rPr lang="es-CL" sz="1300">
                <a:solidFill>
                  <a:srgbClr val="1E293B"/>
                </a:solidFill>
              </a:rPr>
              <a:t>Trazabilidad Scrum ++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855878" y="4219551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lang="es-CL" sz="1300">
                <a:solidFill>
                  <a:srgbClr val="1E293B"/>
                </a:solidFill>
              </a:rPr>
              <a:t>13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/>
          <p:nvPr/>
        </p:nvSpPr>
        <p:spPr>
          <a:xfrm>
            <a:off x="2353325" y="1686750"/>
            <a:ext cx="3675900" cy="2128200"/>
          </a:xfrm>
          <a:prstGeom prst="roundRect">
            <a:avLst>
              <a:gd fmla="val 12496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</a:rPr>
              <a:t>Los usuarios tienen una percepción muy limitada respecto al costo real y la huella de carbono que generan las computadoras, entornos cloud y servidores locales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0" y="799"/>
            <a:ext cx="8161019" cy="76962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92863" y="-3850"/>
            <a:ext cx="7315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lang="es-CL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r>
              <a:rPr b="1" i="0" lang="es-CL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r>
              <a:rPr b="1" lang="es-CL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Introducción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9164" y="86922"/>
            <a:ext cx="706691" cy="5957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4"/>
          <p:cNvSpPr/>
          <p:nvPr/>
        </p:nvSpPr>
        <p:spPr>
          <a:xfrm>
            <a:off x="2353325" y="1686750"/>
            <a:ext cx="3675900" cy="595800"/>
          </a:xfrm>
          <a:prstGeom prst="round2SameRect">
            <a:avLst>
              <a:gd fmla="val 41730" name="adj1"/>
              <a:gd fmla="val 0" name="adj2"/>
            </a:avLst>
          </a:prstGeom>
          <a:solidFill>
            <a:srgbClr val="1A3A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2100">
                <a:solidFill>
                  <a:schemeClr val="lt1"/>
                </a:solidFill>
              </a:rPr>
              <a:t>Problemática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c37d9229b_2_22"/>
          <p:cNvSpPr/>
          <p:nvPr/>
        </p:nvSpPr>
        <p:spPr>
          <a:xfrm>
            <a:off x="0" y="799"/>
            <a:ext cx="8160900" cy="7695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ec37d9229b_2_22"/>
          <p:cNvSpPr/>
          <p:nvPr/>
        </p:nvSpPr>
        <p:spPr>
          <a:xfrm>
            <a:off x="457200" y="0"/>
            <a:ext cx="7315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lang="es-CL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r>
              <a:rPr b="1" i="0" lang="es-CL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.1 </a:t>
            </a:r>
            <a:r>
              <a:rPr b="1" lang="es-CL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Propuesta de solución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" name="Google Shape;70;g3ec37d9229b_2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9164" y="86922"/>
            <a:ext cx="706691" cy="5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g3ec37d9229b_2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29700"/>
            <a:ext cx="8839198" cy="3803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/>
          <p:nvPr/>
        </p:nvSpPr>
        <p:spPr>
          <a:xfrm>
            <a:off x="0" y="799"/>
            <a:ext cx="8161019" cy="76962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r>
              <a:rPr b="1" i="0" lang="es-CL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r>
              <a:rPr b="1" lang="es-CL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Alcance Incremento 1</a:t>
            </a:r>
            <a:endParaRPr b="1" i="0" sz="2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9" name="Google Shape;7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9164" y="86922"/>
            <a:ext cx="706691" cy="595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0" name="Google Shape;80;p7"/>
          <p:cNvGraphicFramePr/>
          <p:nvPr/>
        </p:nvGraphicFramePr>
        <p:xfrm>
          <a:off x="78350" y="82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{6C871C9B-705A-4F8F-818C-7330543638D5}</a:tableStyleId>
              </a:tblPr>
              <a:tblGrid>
                <a:gridCol w="493800"/>
                <a:gridCol w="1865000"/>
                <a:gridCol w="3549750"/>
                <a:gridCol w="844275"/>
                <a:gridCol w="841750"/>
                <a:gridCol w="995900"/>
              </a:tblGrid>
              <a:tr h="308050"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700"/>
                        <a:t>N°</a:t>
                      </a:r>
                      <a:r>
                        <a:rPr lang="es-CL" sz="700"/>
                        <a:t>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700"/>
                        <a:t>Funcionalidad</a:t>
                      </a:r>
                      <a:r>
                        <a:rPr lang="es-CL" sz="700"/>
                        <a:t>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700"/>
                        <a:t>Casos de uso incluidos</a:t>
                      </a:r>
                      <a:r>
                        <a:rPr lang="es-CL" sz="700"/>
                        <a:t>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700"/>
                        <a:t>Cant.</a:t>
                      </a:r>
                      <a:r>
                        <a:rPr lang="es-CL" sz="700"/>
                        <a:t>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700"/>
                        <a:t>% Parcial</a:t>
                      </a:r>
                      <a:r>
                        <a:rPr lang="es-CL" sz="700"/>
                        <a:t>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700"/>
                        <a:t>% Acumulado</a:t>
                      </a:r>
                      <a:r>
                        <a:rPr lang="es-CL" sz="700"/>
                        <a:t>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334025"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1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Visualización de indicadores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CU 3.1, CU 3.2, CU 4.1, CU 4.2, CU 5.1, CU 5.2, CU 6.1, CU 6.2, CU 7.1, CU 7.2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10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7,1%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7,1%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75"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2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Advertencias y recomendaciones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CU 11.1, CU 11.2, CU 12.1, CU 12.2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4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2,9%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10,0%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261025"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3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Gestión de archivos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CU 13.1, CU 13.2, CU 14.1, CU 14.2, CU 15.1, CU 15.2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6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4,3%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14,3%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950"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4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Configuración de métricas y umbrales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CU 16.1, CU 16.2, CU 17.1, CU 17.2, CU 19.1, CU 19.2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6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4,3%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18,6%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238725"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5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Selección y filtrado de regiones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CU 20.1, CU 20.2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2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1,4%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20,0%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025"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6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Catálogo de hardware, sincronización con API y actualización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CU 26.1, CU 26.2, CU 34.1, CU 34.2, CU 35.1, CU 35.2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6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4,3%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24,3%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290800"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7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Evaluación, aviso y sondeo de datos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CU 36.1, CU 36.2, CU 37.1, CU 37.2, CU 38.1, CU 38.2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6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4,3%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28,6%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500"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8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Seguimiento activo, notificaciones y actualización de datos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CU 47.1, CU 47.2, CU 62.1, CU 62.2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4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2,9%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31,4%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308050"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9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Análisis energético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CU 55.1, CU 55.2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2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1,4%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32,9%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625"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10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Inicio Sesión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CU 56.1, CU 56.2, CU 57.1, CU 57.2, CU 59.1, CU 59.2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6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4,3%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37,1%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204700"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11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Comparación y archivado de modelos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CU 61.1, CU 61.2, CU 63.1, CU 63.2, CU 69.1, CU 69.2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6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4,3%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/>
                        <a:t>41,4% </a:t>
                      </a:r>
                      <a:endParaRPr sz="700"/>
                    </a:p>
                  </a:txBody>
                  <a:tcPr marT="91425" marB="91425" marR="91425" marL="91425">
                    <a:lnL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1" name="Google Shape;81;p7"/>
          <p:cNvSpPr/>
          <p:nvPr/>
        </p:nvSpPr>
        <p:spPr>
          <a:xfrm>
            <a:off x="5943600" y="4878000"/>
            <a:ext cx="3164400" cy="2286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s-CL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Fuente: Elaborado por los estudiantes de acuerdo con el proyecto.</a:t>
            </a:r>
            <a:r>
              <a:rPr lang="es-CL" sz="1100">
                <a:solidFill>
                  <a:schemeClr val="dk1"/>
                </a:solidFill>
              </a:rPr>
              <a:t> </a:t>
            </a:r>
            <a:r>
              <a:rPr lang="es-CL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/>
          <p:nvPr/>
        </p:nvSpPr>
        <p:spPr>
          <a:xfrm>
            <a:off x="0" y="0"/>
            <a:ext cx="8161019" cy="76962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0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lang="es-CL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r>
              <a:rPr b="1" i="0" lang="es-CL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r>
              <a:rPr b="1" lang="es-CL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Requerimiento 03 - CU 3.2 - Actualizando dinámicamente el indicador verde.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5905500" y="4837425"/>
            <a:ext cx="3164700" cy="2286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s-CL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Fuente: Elaborado por los estudiantes de acuerdo con el proyecto.</a:t>
            </a:r>
            <a:r>
              <a:rPr lang="es-CL" sz="1100">
                <a:solidFill>
                  <a:schemeClr val="dk1"/>
                </a:solidFill>
              </a:rPr>
              <a:t> </a:t>
            </a:r>
            <a:r>
              <a:rPr lang="es-CL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9164" y="86922"/>
            <a:ext cx="706691" cy="595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1" name="Google Shape;91;p10"/>
          <p:cNvGraphicFramePr/>
          <p:nvPr/>
        </p:nvGraphicFramePr>
        <p:xfrm>
          <a:off x="4925250" y="1543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{6C871C9B-705A-4F8F-818C-7330543638D5}</a:tableStyleId>
              </a:tblPr>
              <a:tblGrid>
                <a:gridCol w="1300975"/>
                <a:gridCol w="2558100"/>
              </a:tblGrid>
              <a:tr h="627550"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b="1" lang="es-CL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Precondiciones</a:t>
                      </a:r>
                      <a:r>
                        <a:rPr lang="es-CL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s-CL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Interfaz en modo de edición.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2450"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b="1" lang="es-CL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Excepciones</a:t>
                      </a:r>
                      <a:r>
                        <a:rPr lang="es-CL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s-CL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Excepción 1: Cálculo complejo. El sistema muestra un indicador de carga temporal mientras finaliza el procesamiento de los nuevos datos.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7550"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b="1" lang="es-CL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Poscondiciones</a:t>
                      </a:r>
                      <a:r>
                        <a:rPr lang="es-CL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s-CL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Indicador cambia a estado verde instantáneamente.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7550"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b="1" lang="es-CL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Dependencias</a:t>
                      </a:r>
                      <a:r>
                        <a:rPr lang="es-CL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s-CL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Módulo de cálculo analítico en memoria “CU 3.1”.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2" name="Google Shape;92;p10"/>
          <p:cNvGraphicFramePr/>
          <p:nvPr/>
        </p:nvGraphicFramePr>
        <p:xfrm>
          <a:off x="70650" y="1543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{6C871C9B-705A-4F8F-818C-7330543638D5}</a:tableStyleId>
              </a:tblPr>
              <a:tblGrid>
                <a:gridCol w="1125025"/>
                <a:gridCol w="3457700"/>
              </a:tblGrid>
              <a:tr h="432300"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b="1" lang="es-CL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Actores</a:t>
                      </a:r>
                      <a:r>
                        <a:rPr lang="es-CL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s-CL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Usuario</a:t>
                      </a:r>
                      <a:r>
                        <a:rPr lang="es-CL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4075"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b="1" lang="es-CL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Resumen</a:t>
                      </a:r>
                      <a:r>
                        <a:rPr lang="es-CL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s-CL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 el usuario baja el consumo de componentes, el sistema recalcula inmediatamente y enciende el indicador verde al cruzar bajo el 50%.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8200"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b="1" lang="es-CL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Frecuencia</a:t>
                      </a:r>
                      <a:r>
                        <a:rPr lang="es-CL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s-CL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Automática / En tiempo real.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61725"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b="1" lang="es-CL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</a:t>
                      </a:r>
                      <a:r>
                        <a:rPr lang="es-CL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s-CL" sz="1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usuario modifica un parámetro de hardware a la baja,</a:t>
                      </a:r>
                      <a:r>
                        <a:rPr lang="es-CL" sz="1200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sistema recalcula los datos en memoria al instante [Excepción 1], detecta si se ha producido un cruce del umbral inferior al 50% y actualiza automáticamente la interfaz mostrando el indicador en color verde. </a:t>
                      </a:r>
                      <a:endParaRPr sz="1200">
                        <a:solidFill>
                          <a:srgbClr val="0070C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3" name="Google Shape;9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50" y="806800"/>
            <a:ext cx="4508876" cy="5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c37d9229b_3_0"/>
          <p:cNvSpPr/>
          <p:nvPr/>
        </p:nvSpPr>
        <p:spPr>
          <a:xfrm>
            <a:off x="0" y="0"/>
            <a:ext cx="8160900" cy="7695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ec37d9229b_3_0"/>
          <p:cNvSpPr/>
          <p:nvPr/>
        </p:nvSpPr>
        <p:spPr>
          <a:xfrm>
            <a:off x="457200" y="0"/>
            <a:ext cx="7315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lang="es-CL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r>
              <a:rPr b="1" i="0" lang="es-CL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.1 </a:t>
            </a:r>
            <a:r>
              <a:rPr b="1" lang="es-CL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Diagrama de secuencia CU 3.2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1" name="Google Shape;101;g3ec37d9229b_3_0"/>
          <p:cNvSpPr/>
          <p:nvPr/>
        </p:nvSpPr>
        <p:spPr>
          <a:xfrm>
            <a:off x="5905500" y="4837425"/>
            <a:ext cx="3164700" cy="2286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s-CL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Fuente: Elaborado por los estudiantes de acuerdo con el proyecto.</a:t>
            </a:r>
            <a:r>
              <a:rPr lang="es-CL" sz="1100">
                <a:solidFill>
                  <a:schemeClr val="dk1"/>
                </a:solidFill>
              </a:rPr>
              <a:t> </a:t>
            </a:r>
            <a:r>
              <a:rPr lang="es-CL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g3ec37d9229b_3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9164" y="86922"/>
            <a:ext cx="706691" cy="5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g3ec37d9229b_3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150" y="1094125"/>
            <a:ext cx="8443275" cy="322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c37d9229b_3_9"/>
          <p:cNvSpPr/>
          <p:nvPr/>
        </p:nvSpPr>
        <p:spPr>
          <a:xfrm>
            <a:off x="0" y="0"/>
            <a:ext cx="8160900" cy="7695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ec37d9229b_3_9"/>
          <p:cNvSpPr/>
          <p:nvPr/>
        </p:nvSpPr>
        <p:spPr>
          <a:xfrm>
            <a:off x="457200" y="0"/>
            <a:ext cx="7315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lang="es-CL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r>
              <a:rPr b="1" i="0" lang="es-CL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.2 </a:t>
            </a:r>
            <a:r>
              <a:rPr b="1" lang="es-CL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Vistas del CU 3.2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1" name="Google Shape;111;g3ec37d9229b_3_9"/>
          <p:cNvSpPr/>
          <p:nvPr/>
        </p:nvSpPr>
        <p:spPr>
          <a:xfrm>
            <a:off x="5905500" y="4837425"/>
            <a:ext cx="3164700" cy="2286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s-CL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Fuente: Elaborado por los estudiantes de acuerdo con el proyecto.</a:t>
            </a:r>
            <a:r>
              <a:rPr lang="es-CL" sz="1100">
                <a:solidFill>
                  <a:schemeClr val="dk1"/>
                </a:solidFill>
              </a:rPr>
              <a:t> </a:t>
            </a:r>
            <a:r>
              <a:rPr lang="es-CL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g3ec37d9229b_3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9164" y="86922"/>
            <a:ext cx="706691" cy="5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ec37d9229b_3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6050" y="1303450"/>
            <a:ext cx="3603120" cy="312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g3ec37d9229b_3_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300" y="1303450"/>
            <a:ext cx="3899400" cy="312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/>
          <p:nvPr/>
        </p:nvSpPr>
        <p:spPr>
          <a:xfrm>
            <a:off x="0" y="799"/>
            <a:ext cx="8161019" cy="76962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lang="es-CL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4.</a:t>
            </a:r>
            <a:r>
              <a:rPr b="1" i="0" lang="es-CL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lang="es-CL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Diagrama de Despliegue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22" name="Google Shape;12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9164" y="86922"/>
            <a:ext cx="706691" cy="59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8"/>
          <p:cNvSpPr/>
          <p:nvPr/>
        </p:nvSpPr>
        <p:spPr>
          <a:xfrm>
            <a:off x="5920150" y="4837425"/>
            <a:ext cx="3150000" cy="2286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s-CL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Fuente: Elaborado por los estudiantes de acuerdo con el proyecto.</a:t>
            </a:r>
            <a:r>
              <a:rPr lang="es-CL" sz="1100">
                <a:solidFill>
                  <a:schemeClr val="dk1"/>
                </a:solidFill>
              </a:rPr>
              <a:t> </a:t>
            </a:r>
            <a:r>
              <a:rPr lang="es-CL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8" title="Diagrama de Despliegue,drawio (mejor calidad).png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-3686" l="0" r="0" t="4322"/>
          <a:stretch/>
        </p:blipFill>
        <p:spPr>
          <a:xfrm>
            <a:off x="1832625" y="892738"/>
            <a:ext cx="5478743" cy="3944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/>
          <p:nvPr/>
        </p:nvSpPr>
        <p:spPr>
          <a:xfrm>
            <a:off x="0" y="799"/>
            <a:ext cx="8161019" cy="76962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lang="es-CL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r>
              <a:rPr b="1" i="0" lang="es-CL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r>
              <a:rPr b="1" lang="es-CL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Diagrama de Componentes 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2" name="Google Shape;1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9164" y="86922"/>
            <a:ext cx="706691" cy="59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9"/>
          <p:cNvSpPr/>
          <p:nvPr/>
        </p:nvSpPr>
        <p:spPr>
          <a:xfrm>
            <a:off x="5905500" y="4837425"/>
            <a:ext cx="3164400" cy="2286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s-CL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Fuente: Elaborado por los estudiantes de acuerdo con el proyecto.  2026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9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9625" y="1016650"/>
            <a:ext cx="6252774" cy="3782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0" y="0"/>
            <a:ext cx="8161019" cy="76962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9164" y="86922"/>
            <a:ext cx="706691" cy="59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1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r>
              <a:rPr b="1" i="0" lang="es-CL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r>
              <a:rPr b="1" lang="es-CL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Modelo </a:t>
            </a:r>
            <a:r>
              <a:rPr b="1" lang="es-CL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Físico</a:t>
            </a:r>
            <a:endParaRPr b="1" i="0" sz="2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5883525" y="4837425"/>
            <a:ext cx="3186300" cy="2286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s-CL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Fuente: Elaborado por los estudiantes de acuerdo con el proyecto.</a:t>
            </a:r>
            <a:r>
              <a:rPr lang="es-CL" sz="1100">
                <a:solidFill>
                  <a:schemeClr val="dk1"/>
                </a:solidFill>
              </a:rPr>
              <a:t> </a:t>
            </a:r>
            <a:r>
              <a:rPr lang="es-CL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1" title="Modelo_fisico(SQL).drawio.png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169" r="159" t="0"/>
          <a:stretch/>
        </p:blipFill>
        <p:spPr>
          <a:xfrm>
            <a:off x="1308975" y="1088988"/>
            <a:ext cx="6419651" cy="3641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c63446b3e_0_1"/>
          <p:cNvSpPr/>
          <p:nvPr/>
        </p:nvSpPr>
        <p:spPr>
          <a:xfrm>
            <a:off x="0" y="0"/>
            <a:ext cx="8160900" cy="7695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g3ec63446b3e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9164" y="86922"/>
            <a:ext cx="706691" cy="59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ec63446b3e_0_1"/>
          <p:cNvSpPr/>
          <p:nvPr/>
        </p:nvSpPr>
        <p:spPr>
          <a:xfrm>
            <a:off x="457200" y="0"/>
            <a:ext cx="7315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7</a:t>
            </a:r>
            <a:r>
              <a:rPr b="1" i="0" lang="es-CL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r>
              <a:rPr b="1" lang="es-CL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Árbol</a:t>
            </a:r>
            <a:r>
              <a:rPr b="1" lang="es-CL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de navegación</a:t>
            </a:r>
            <a:endParaRPr b="1" i="0" sz="2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3" name="Google Shape;153;g3ec63446b3e_0_1"/>
          <p:cNvSpPr/>
          <p:nvPr/>
        </p:nvSpPr>
        <p:spPr>
          <a:xfrm>
            <a:off x="5883525" y="4837425"/>
            <a:ext cx="3186300" cy="2286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s-CL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Fuente: Elaborado por los estudiantes de acuerdo con el proyecto.</a:t>
            </a:r>
            <a:r>
              <a:rPr lang="es-CL" sz="1100">
                <a:solidFill>
                  <a:schemeClr val="dk1"/>
                </a:solidFill>
              </a:rPr>
              <a:t> </a:t>
            </a:r>
            <a:r>
              <a:rPr lang="es-CL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g3ec63446b3e_0_1" title="Arbol_de_navegacion.drawio_1.png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25" y="1054175"/>
            <a:ext cx="8956826" cy="308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c0232a584_0_17"/>
          <p:cNvSpPr/>
          <p:nvPr/>
        </p:nvSpPr>
        <p:spPr>
          <a:xfrm>
            <a:off x="0" y="0"/>
            <a:ext cx="8160900" cy="7695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g3ec0232a584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9164" y="86922"/>
            <a:ext cx="706691" cy="59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ec0232a584_0_17"/>
          <p:cNvSpPr/>
          <p:nvPr/>
        </p:nvSpPr>
        <p:spPr>
          <a:xfrm>
            <a:off x="457200" y="0"/>
            <a:ext cx="7315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8</a:t>
            </a:r>
            <a:r>
              <a:rPr b="1" i="0" lang="es-CL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r>
              <a:rPr b="1" lang="es-CL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Trazabilidad </a:t>
            </a:r>
            <a:r>
              <a:rPr b="1" lang="es-CL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Scrum ++</a:t>
            </a:r>
            <a:endParaRPr b="1" i="0" sz="2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3" name="Google Shape;163;g3ec0232a584_0_17"/>
          <p:cNvSpPr/>
          <p:nvPr/>
        </p:nvSpPr>
        <p:spPr>
          <a:xfrm>
            <a:off x="5905275" y="4873775"/>
            <a:ext cx="3193800" cy="2286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s-CL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Fuente: </a:t>
            </a:r>
            <a:r>
              <a:rPr lang="es-CL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Elaborado por los estudiantes de acuerdo con el proyecto.</a:t>
            </a:r>
            <a:r>
              <a:rPr lang="es-CL" sz="1100">
                <a:solidFill>
                  <a:schemeClr val="dk1"/>
                </a:solidFill>
              </a:rPr>
              <a:t> </a:t>
            </a:r>
            <a:r>
              <a:rPr b="0" i="0" lang="es-CL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g3ec0232a584_0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425" y="774350"/>
            <a:ext cx="7146426" cy="4058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unab_extracted/ppt/media/image1.png" id="170" name="Google Shape;170;g3ec0232a58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931" y="348544"/>
            <a:ext cx="971432" cy="81893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ec0232a584_0_0"/>
          <p:cNvSpPr/>
          <p:nvPr/>
        </p:nvSpPr>
        <p:spPr>
          <a:xfrm>
            <a:off x="1139613" y="920609"/>
            <a:ext cx="6858000" cy="201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Proyecto de Ingeniería de Software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el Sistema Evaluador de Daño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Ambiental para Universidad Andrés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Bello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ec0232a584_0_0"/>
          <p:cNvSpPr/>
          <p:nvPr/>
        </p:nvSpPr>
        <p:spPr>
          <a:xfrm>
            <a:off x="357931" y="3571957"/>
            <a:ext cx="29949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Autores: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b="0" i="0" lang="es-C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Brighitte Naomi Mia Espinoza Condori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b="0" i="0" lang="es-C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Ignacia Antonia Huerta Córdova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b="0" i="0" lang="es-C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Cristóbal Andrés Ibarra Ortiz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b="0" i="0" lang="es-C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José Tomás Lastra Polanco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ec0232a584_0_0"/>
          <p:cNvSpPr/>
          <p:nvPr/>
        </p:nvSpPr>
        <p:spPr>
          <a:xfrm>
            <a:off x="6267592" y="3698523"/>
            <a:ext cx="2712300" cy="12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Profesor: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Paulo Luis Francisco Quinsacara Jofré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Fecha: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s-CL" sz="1100"/>
              <a:t>4</a:t>
            </a:r>
            <a:r>
              <a:rPr b="0" i="0" lang="es-C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s-CL" sz="1100"/>
              <a:t>Junio</a:t>
            </a:r>
            <a:r>
              <a:rPr b="0" i="0" lang="es-C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2026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Santiago de Chile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ec0232a584_0_0"/>
          <p:cNvSpPr/>
          <p:nvPr/>
        </p:nvSpPr>
        <p:spPr>
          <a:xfrm>
            <a:off x="3001143" y="3844749"/>
            <a:ext cx="2994900" cy="9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b="0" i="0" lang="es-C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Renato Andrés Leal González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b="0" i="0" lang="es-C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Fernanda de Jesús Pavez Urbina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b="0" i="0" lang="es-C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José Enrique Zayas Gómez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ec0232a584_0_0"/>
          <p:cNvSpPr/>
          <p:nvPr/>
        </p:nvSpPr>
        <p:spPr>
          <a:xfrm>
            <a:off x="1" y="2941320"/>
            <a:ext cx="9146400" cy="4998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ec0232a584_0_0"/>
          <p:cNvSpPr txBox="1"/>
          <p:nvPr/>
        </p:nvSpPr>
        <p:spPr>
          <a:xfrm>
            <a:off x="3068850" y="2941325"/>
            <a:ext cx="30063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lt1"/>
                </a:solidFill>
              </a:rPr>
              <a:t>GRUPO 4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2026-04-20T05:10:19Z</dcterms:created>
  <dc:creator>Equipo Semáforo IA - UNAB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0x010100274A20500C5E834F8F8EC8FE624F1F89</vt:lpwstr>
  </property>
</Properties>
</file>